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1" r:id="rId1"/>
  </p:sldMasterIdLst>
  <p:notesMasterIdLst>
    <p:notesMasterId r:id="rId4"/>
  </p:notesMasterIdLst>
  <p:handoutMasterIdLst>
    <p:handoutMasterId r:id="rId5"/>
  </p:handoutMasterIdLst>
  <p:sldIdLst>
    <p:sldId id="456" r:id="rId2"/>
    <p:sldId id="457" r:id="rId3"/>
  </p:sldIdLst>
  <p:sldSz cx="9144000" cy="5143500" type="screen16x9"/>
  <p:notesSz cx="6858000" cy="9144000"/>
  <p:embeddedFontLst>
    <p:embeddedFont>
      <p:font typeface="Lato" panose="020F0502020204030203" pitchFamily="34" charset="0"/>
      <p:regular r:id="rId6"/>
      <p:bold r:id="rId7"/>
      <p:italic r:id="rId8"/>
      <p:boldItalic r:id="rId9"/>
    </p:embeddedFont>
    <p:embeddedFont>
      <p:font typeface="Raleway" pitchFamily="2" charset="77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7575"/>
    <a:srgbClr val="EB5600"/>
    <a:srgbClr val="1A9988"/>
    <a:srgbClr val="E1EDF4"/>
    <a:srgbClr val="E6AD00"/>
    <a:srgbClr val="D5FC79"/>
    <a:srgbClr val="8EFA00"/>
    <a:srgbClr val="FF7E79"/>
    <a:srgbClr val="F3B700"/>
    <a:srgbClr val="92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95"/>
    <p:restoredTop sz="96498"/>
  </p:normalViewPr>
  <p:slideViewPr>
    <p:cSldViewPr snapToGrid="0">
      <p:cViewPr varScale="1">
        <p:scale>
          <a:sx n="167" d="100"/>
          <a:sy n="167" d="100"/>
        </p:scale>
        <p:origin x="72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6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1F2E57B-9A3F-B550-E47E-3015DC1F56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786F366-79B6-9CC8-35C8-94A40F53F9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5EE8B-607E-504F-B40E-98C31EC263CF}" type="datetimeFigureOut">
              <a:rPr lang="en-US" smtClean="0"/>
              <a:t>8/23/26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BB5EDE3-E737-A69C-C4A2-9AD40A94E9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22CB1B-D93C-AC49-BE11-9EAC0B5E98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B07E9-03BA-8643-A0B1-1E83823CA58A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132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bg>
      <p:bgPr>
        <a:solidFill>
          <a:schemeClr val="lt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 userDrawn="1"/>
        </p:nvSpPr>
        <p:spPr>
          <a:xfrm>
            <a:off x="0" y="0"/>
            <a:ext cx="9144000" cy="113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729450" y="1492748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729627" y="3343198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  <p:pic>
        <p:nvPicPr>
          <p:cNvPr id="3" name="Image 2" descr="Une image contenant Police, Graphique, capture d’écran, symbole&#10;&#10;Description générée automatiquement">
            <a:extLst>
              <a:ext uri="{FF2B5EF4-FFF2-40B4-BE49-F238E27FC236}">
                <a16:creationId xmlns:a16="http://schemas.microsoft.com/office/drawing/2014/main" id="{F99F9DCD-2BD5-6CEE-5D5B-F44A1772D7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49328" y="224854"/>
            <a:ext cx="2360038" cy="815926"/>
          </a:xfrm>
          <a:prstGeom prst="rect">
            <a:avLst/>
          </a:prstGeom>
        </p:spPr>
      </p:pic>
      <p:grpSp>
        <p:nvGrpSpPr>
          <p:cNvPr id="4" name="Google Shape;108;p21">
            <a:extLst>
              <a:ext uri="{FF2B5EF4-FFF2-40B4-BE49-F238E27FC236}">
                <a16:creationId xmlns:a16="http://schemas.microsoft.com/office/drawing/2014/main" id="{0D90BDAE-F878-38A3-DA6A-3232D041CB56}"/>
              </a:ext>
            </a:extLst>
          </p:cNvPr>
          <p:cNvGrpSpPr/>
          <p:nvPr userDrawn="1"/>
        </p:nvGrpSpPr>
        <p:grpSpPr>
          <a:xfrm>
            <a:off x="830392" y="1440417"/>
            <a:ext cx="745763" cy="45826"/>
            <a:chOff x="4580561" y="2589004"/>
            <a:chExt cx="1064464" cy="25200"/>
          </a:xfrm>
        </p:grpSpPr>
        <p:sp>
          <p:nvSpPr>
            <p:cNvPr id="5" name="Google Shape;109;p21">
              <a:extLst>
                <a:ext uri="{FF2B5EF4-FFF2-40B4-BE49-F238E27FC236}">
                  <a16:creationId xmlns:a16="http://schemas.microsoft.com/office/drawing/2014/main" id="{AB54913D-C5D8-3EE6-75B5-19DA20C58423}"/>
                </a:ext>
              </a:extLst>
            </p:cNvPr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10;p21">
              <a:extLst>
                <a:ext uri="{FF2B5EF4-FFF2-40B4-BE49-F238E27FC236}">
                  <a16:creationId xmlns:a16="http://schemas.microsoft.com/office/drawing/2014/main" id="{DFCB830F-E0AC-64EC-A6CA-BF43A7E5B1AF}"/>
                </a:ext>
              </a:extLst>
            </p:cNvPr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16604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729325" y="1107688"/>
            <a:ext cx="3774300" cy="32322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4643604" y="1107688"/>
            <a:ext cx="3774300" cy="32322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  <p:sp>
        <p:nvSpPr>
          <p:cNvPr id="2" name="Google Shape;69;p16">
            <a:extLst>
              <a:ext uri="{FF2B5EF4-FFF2-40B4-BE49-F238E27FC236}">
                <a16:creationId xmlns:a16="http://schemas.microsoft.com/office/drawing/2014/main" id="{A97F259B-5853-7A10-5973-501B04603EC7}"/>
              </a:ext>
            </a:extLst>
          </p:cNvPr>
          <p:cNvSpPr/>
          <p:nvPr userDrawn="1"/>
        </p:nvSpPr>
        <p:spPr>
          <a:xfrm>
            <a:off x="0" y="0"/>
            <a:ext cx="9144000" cy="7088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" name="Google Shape;70;p16">
            <a:extLst>
              <a:ext uri="{FF2B5EF4-FFF2-40B4-BE49-F238E27FC236}">
                <a16:creationId xmlns:a16="http://schemas.microsoft.com/office/drawing/2014/main" id="{94F3D018-B843-7B93-FA92-F3BD2A8550A1}"/>
              </a:ext>
            </a:extLst>
          </p:cNvPr>
          <p:cNvGrpSpPr/>
          <p:nvPr userDrawn="1"/>
        </p:nvGrpSpPr>
        <p:grpSpPr>
          <a:xfrm>
            <a:off x="830392" y="780612"/>
            <a:ext cx="745763" cy="45826"/>
            <a:chOff x="4580561" y="2589004"/>
            <a:chExt cx="1064464" cy="25200"/>
          </a:xfrm>
        </p:grpSpPr>
        <p:sp>
          <p:nvSpPr>
            <p:cNvPr id="4" name="Google Shape;71;p16">
              <a:extLst>
                <a:ext uri="{FF2B5EF4-FFF2-40B4-BE49-F238E27FC236}">
                  <a16:creationId xmlns:a16="http://schemas.microsoft.com/office/drawing/2014/main" id="{B40A8094-F804-EB46-4303-12D8D2DA1B41}"/>
                </a:ext>
              </a:extLst>
            </p:cNvPr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72;p16">
              <a:extLst>
                <a:ext uri="{FF2B5EF4-FFF2-40B4-BE49-F238E27FC236}">
                  <a16:creationId xmlns:a16="http://schemas.microsoft.com/office/drawing/2014/main" id="{697AA7B9-2DB0-D565-9BB7-E8207C36ECD8}"/>
                </a:ext>
              </a:extLst>
            </p:cNvPr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" name="Google Shape;73;p16">
            <a:extLst>
              <a:ext uri="{FF2B5EF4-FFF2-40B4-BE49-F238E27FC236}">
                <a16:creationId xmlns:a16="http://schemas.microsoft.com/office/drawing/2014/main" id="{C8C28C22-7D01-A348-726C-76E17398D1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4821"/>
            <a:ext cx="6701623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pic>
        <p:nvPicPr>
          <p:cNvPr id="8" name="Image 7" descr="Une image contenant Police, Graphique, capture d’écran, symbole&#10;&#10;Description générée automatiquement">
            <a:extLst>
              <a:ext uri="{FF2B5EF4-FFF2-40B4-BE49-F238E27FC236}">
                <a16:creationId xmlns:a16="http://schemas.microsoft.com/office/drawing/2014/main" id="{1088EE44-642A-B1BA-17C4-628C4B1FEA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9279" y="124983"/>
            <a:ext cx="1416515" cy="489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18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7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emf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0BB8-6F47-F519-792A-530CBDA9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>
            <a:extLst>
              <a:ext uri="{FF2B5EF4-FFF2-40B4-BE49-F238E27FC236}">
                <a16:creationId xmlns:a16="http://schemas.microsoft.com/office/drawing/2014/main" id="{F025ECEA-8A11-7717-F987-EF15A76F765B}"/>
              </a:ext>
            </a:extLst>
          </p:cNvPr>
          <p:cNvSpPr/>
          <p:nvPr/>
        </p:nvSpPr>
        <p:spPr>
          <a:xfrm>
            <a:off x="990721" y="1405302"/>
            <a:ext cx="2152438" cy="2512736"/>
          </a:xfrm>
          <a:prstGeom prst="roundRect">
            <a:avLst>
              <a:gd name="adj" fmla="val 558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>
              <a:spcAft>
                <a:spcPts val="800"/>
              </a:spcAft>
            </a:pPr>
            <a:r>
              <a:rPr lang="en-US" sz="1200" b="1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Claim-level factuality</a:t>
            </a:r>
          </a:p>
          <a:p>
            <a:pPr algn="just">
              <a:spcAft>
                <a:spcPts val="500"/>
              </a:spcAft>
            </a:pPr>
            <a:r>
              <a:rPr lang="en-US" sz="10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Prompt: </a:t>
            </a:r>
            <a:r>
              <a:rPr lang="en-US" sz="10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was the suggested retail price of the Canon EOS 70D when it was announced in 2013?</a:t>
            </a:r>
            <a:endParaRPr lang="en-US" sz="1000" b="1" i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>
              <a:spcAft>
                <a:spcPts val="500"/>
              </a:spcAft>
            </a:pPr>
            <a:r>
              <a:rPr lang="en-US" sz="10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completion, split into claims</a:t>
            </a:r>
          </a:p>
          <a:p>
            <a:pPr>
              <a:spcAft>
                <a:spcPts val="1200"/>
              </a:spcAft>
            </a:pPr>
            <a:r>
              <a: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en-US" sz="10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D5FC79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suggested retail price</a:t>
            </a:r>
            <a:b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0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D5FC79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 the Canon EOS 70D </a:t>
            </a:r>
            <a:b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0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D5FC79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when it was announced </a:t>
            </a:r>
            <a:b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0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D5FC79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2013</a:t>
            </a:r>
            <a:b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en-US" sz="10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D5FC79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was $1,199</a:t>
            </a:r>
            <a:b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0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D5FC79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the body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8EFA00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b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0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FF7E79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only, and $1,699</a:t>
            </a:r>
            <a:b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0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D5FC79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 an EF-S 18-55mm</a:t>
            </a:r>
            <a:b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0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en-US" sz="1000" b="0" i="0" dirty="0"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00" b="0" i="0" dirty="0">
                <a:solidFill>
                  <a:schemeClr val="bg2"/>
                </a:solidFill>
                <a:effectLst/>
                <a:highlight>
                  <a:srgbClr val="D5FC79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 STM lens.</a:t>
            </a:r>
            <a:endParaRPr lang="en-US" sz="1000" b="0" i="0" u="sng" dirty="0">
              <a:solidFill>
                <a:schemeClr val="bg2"/>
              </a:solidFill>
              <a:effectLst/>
              <a:highlight>
                <a:srgbClr val="D5FC79"/>
              </a:highlight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>
              <a:spcAft>
                <a:spcPts val="1200"/>
              </a:spcAft>
            </a:pPr>
            <a:endParaRPr lang="en-US" sz="1000" b="0" i="0" dirty="0">
              <a:solidFill>
                <a:schemeClr val="bg2"/>
              </a:solidFill>
              <a:effectLst/>
              <a:highlight>
                <a:srgbClr val="8EFA00"/>
              </a:highlight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Graphique 3" descr="Badge Tick1 avec un remplissage uni">
            <a:extLst>
              <a:ext uri="{FF2B5EF4-FFF2-40B4-BE49-F238E27FC236}">
                <a16:creationId xmlns:a16="http://schemas.microsoft.com/office/drawing/2014/main" id="{E4A8D58D-6A5A-D2B8-4A9A-91A6CC4F4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112" y="2480420"/>
            <a:ext cx="144000" cy="144000"/>
          </a:xfrm>
          <a:prstGeom prst="rect">
            <a:avLst/>
          </a:prstGeom>
        </p:spPr>
      </p:pic>
      <p:pic>
        <p:nvPicPr>
          <p:cNvPr id="5" name="Graphique 4" descr="Badge croix avec un remplissage uni">
            <a:extLst>
              <a:ext uri="{FF2B5EF4-FFF2-40B4-BE49-F238E27FC236}">
                <a16:creationId xmlns:a16="http://schemas.microsoft.com/office/drawing/2014/main" id="{3B19753A-9418-83A8-363E-A82A8A20F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12" y="3396325"/>
            <a:ext cx="144000" cy="144000"/>
          </a:xfrm>
          <a:prstGeom prst="rect">
            <a:avLst/>
          </a:prstGeom>
        </p:spPr>
      </p:pic>
      <p:pic>
        <p:nvPicPr>
          <p:cNvPr id="6" name="Graphique 5" descr="Badge Tick1 avec un remplissage uni">
            <a:extLst>
              <a:ext uri="{FF2B5EF4-FFF2-40B4-BE49-F238E27FC236}">
                <a16:creationId xmlns:a16="http://schemas.microsoft.com/office/drawing/2014/main" id="{8ED65019-892B-126F-3E6F-5C68375D2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112" y="2638399"/>
            <a:ext cx="144000" cy="144000"/>
          </a:xfrm>
          <a:prstGeom prst="rect">
            <a:avLst/>
          </a:prstGeom>
        </p:spPr>
      </p:pic>
      <p:pic>
        <p:nvPicPr>
          <p:cNvPr id="7" name="Graphique 6" descr="Badge Tick1 avec un remplissage uni">
            <a:extLst>
              <a:ext uri="{FF2B5EF4-FFF2-40B4-BE49-F238E27FC236}">
                <a16:creationId xmlns:a16="http://schemas.microsoft.com/office/drawing/2014/main" id="{F1D12635-0F25-9271-52FD-13B258F3E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112" y="2791732"/>
            <a:ext cx="144000" cy="144000"/>
          </a:xfrm>
          <a:prstGeom prst="rect">
            <a:avLst/>
          </a:prstGeom>
        </p:spPr>
      </p:pic>
      <p:pic>
        <p:nvPicPr>
          <p:cNvPr id="8" name="Graphique 7" descr="Badge Tick1 avec un remplissage uni">
            <a:extLst>
              <a:ext uri="{FF2B5EF4-FFF2-40B4-BE49-F238E27FC236}">
                <a16:creationId xmlns:a16="http://schemas.microsoft.com/office/drawing/2014/main" id="{07D6CA99-9BFF-D05C-776A-986DCD80E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112" y="2943458"/>
            <a:ext cx="144000" cy="144000"/>
          </a:xfrm>
          <a:prstGeom prst="rect">
            <a:avLst/>
          </a:prstGeom>
        </p:spPr>
      </p:pic>
      <p:pic>
        <p:nvPicPr>
          <p:cNvPr id="9" name="Graphique 8" descr="Badge Tick1 avec un remplissage uni">
            <a:extLst>
              <a:ext uri="{FF2B5EF4-FFF2-40B4-BE49-F238E27FC236}">
                <a16:creationId xmlns:a16="http://schemas.microsoft.com/office/drawing/2014/main" id="{CEF88C4B-3E69-0D74-EF6A-44401AB3D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112" y="3100086"/>
            <a:ext cx="144000" cy="144000"/>
          </a:xfrm>
          <a:prstGeom prst="rect">
            <a:avLst/>
          </a:prstGeom>
        </p:spPr>
      </p:pic>
      <p:pic>
        <p:nvPicPr>
          <p:cNvPr id="10" name="Graphique 9" descr="Badge Tick1 avec un remplissage uni">
            <a:extLst>
              <a:ext uri="{FF2B5EF4-FFF2-40B4-BE49-F238E27FC236}">
                <a16:creationId xmlns:a16="http://schemas.microsoft.com/office/drawing/2014/main" id="{CC153CA4-C36C-11DB-8BB8-C67F71560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112" y="3248921"/>
            <a:ext cx="144000" cy="144000"/>
          </a:xfrm>
          <a:prstGeom prst="rect">
            <a:avLst/>
          </a:prstGeom>
        </p:spPr>
      </p:pic>
      <p:pic>
        <p:nvPicPr>
          <p:cNvPr id="11" name="Graphique 10" descr="Badge Tick1 avec un remplissage uni">
            <a:extLst>
              <a:ext uri="{FF2B5EF4-FFF2-40B4-BE49-F238E27FC236}">
                <a16:creationId xmlns:a16="http://schemas.microsoft.com/office/drawing/2014/main" id="{7E5373AF-CBDA-A869-E7B8-C028EFA62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112" y="3549408"/>
            <a:ext cx="144000" cy="144000"/>
          </a:xfrm>
          <a:prstGeom prst="rect">
            <a:avLst/>
          </a:prstGeom>
        </p:spPr>
      </p:pic>
      <p:pic>
        <p:nvPicPr>
          <p:cNvPr id="12" name="Graphique 11" descr="Badge Tick1 avec un remplissage uni">
            <a:extLst>
              <a:ext uri="{FF2B5EF4-FFF2-40B4-BE49-F238E27FC236}">
                <a16:creationId xmlns:a16="http://schemas.microsoft.com/office/drawing/2014/main" id="{553C357C-269F-C446-CD0F-3231CE692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112" y="3707535"/>
            <a:ext cx="144000" cy="144000"/>
          </a:xfrm>
          <a:prstGeom prst="rect">
            <a:avLst/>
          </a:prstGeom>
        </p:spPr>
      </p:pic>
      <p:sp>
        <p:nvSpPr>
          <p:cNvPr id="13" name="Rectangle : avec coins arrondis en haut 12">
            <a:extLst>
              <a:ext uri="{FF2B5EF4-FFF2-40B4-BE49-F238E27FC236}">
                <a16:creationId xmlns:a16="http://schemas.microsoft.com/office/drawing/2014/main" id="{F562DBDF-1A46-311F-4035-821D1363FDE6}"/>
              </a:ext>
            </a:extLst>
          </p:cNvPr>
          <p:cNvSpPr/>
          <p:nvPr/>
        </p:nvSpPr>
        <p:spPr>
          <a:xfrm>
            <a:off x="990720" y="1405302"/>
            <a:ext cx="2152438" cy="252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alpha val="2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CCF2045-70A9-EB32-35CC-29B8903EAA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00" t="3959" r="2382" b="3685"/>
          <a:stretch>
            <a:fillRect/>
          </a:stretch>
        </p:blipFill>
        <p:spPr>
          <a:xfrm>
            <a:off x="3246475" y="1405303"/>
            <a:ext cx="5216843" cy="251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3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65722-A14C-0ECE-2C6F-78F2687FC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2">
            <a:extLst>
              <a:ext uri="{FF2B5EF4-FFF2-40B4-BE49-F238E27FC236}">
                <a16:creationId xmlns:a16="http://schemas.microsoft.com/office/drawing/2014/main" id="{4A432AAA-8001-843B-0449-9A20658D3D00}"/>
              </a:ext>
            </a:extLst>
          </p:cNvPr>
          <p:cNvSpPr/>
          <p:nvPr/>
        </p:nvSpPr>
        <p:spPr>
          <a:xfrm>
            <a:off x="983100" y="2569644"/>
            <a:ext cx="4351142" cy="1097092"/>
          </a:xfrm>
          <a:prstGeom prst="roundRect">
            <a:avLst>
              <a:gd name="adj" fmla="val 3072"/>
            </a:avLst>
          </a:prstGeom>
          <a:solidFill>
            <a:schemeClr val="tx1">
              <a:alpha val="5098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bIns="36000" rtlCol="0" anchor="b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Helvetica" pitchFamily="2" charset="0"/>
                <a:ea typeface="Lato" panose="020F0502020204030203" pitchFamily="34" charset="0"/>
                <a:cs typeface="Consolas" panose="020B0609020204030204" pitchFamily="49" charset="0"/>
              </a:rPr>
              <a:t>Semantic Uncertainty</a:t>
            </a:r>
            <a:endParaRPr lang="en-US" sz="1100" b="1" dirty="0">
              <a:solidFill>
                <a:schemeClr val="tx1"/>
              </a:solidFill>
              <a:latin typeface="Helvetica" pitchFamily="2" charset="0"/>
              <a:ea typeface="Lato" panose="020F0502020204030203" pitchFamily="34" charset="0"/>
              <a:cs typeface="Consolas" panose="020B0609020204030204" pitchFamily="49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BA2F665-1E61-A71D-3656-63693CF30815}"/>
              </a:ext>
            </a:extLst>
          </p:cNvPr>
          <p:cNvSpPr txBox="1"/>
          <p:nvPr/>
        </p:nvSpPr>
        <p:spPr>
          <a:xfrm>
            <a:off x="4028338" y="1592786"/>
            <a:ext cx="130087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i="1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VNE(Predictive Kernel)</a:t>
            </a:r>
            <a:br>
              <a:rPr lang="en-US" sz="900" i="1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900" i="1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</a:t>
            </a:r>
            <a:r>
              <a:rPr lang="en-US" sz="90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Predictive Entropy</a:t>
            </a:r>
            <a:endParaRPr lang="en-US" sz="900" i="1" dirty="0">
              <a:solidFill>
                <a:schemeClr val="accent3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Rectangle à coins arrondis 2">
            <a:extLst>
              <a:ext uri="{FF2B5EF4-FFF2-40B4-BE49-F238E27FC236}">
                <a16:creationId xmlns:a16="http://schemas.microsoft.com/office/drawing/2014/main" id="{9202776F-A45A-C4E3-932E-619F579DB9C6}"/>
              </a:ext>
            </a:extLst>
          </p:cNvPr>
          <p:cNvSpPr/>
          <p:nvPr/>
        </p:nvSpPr>
        <p:spPr>
          <a:xfrm>
            <a:off x="5371942" y="1606963"/>
            <a:ext cx="2858584" cy="2059773"/>
          </a:xfrm>
          <a:prstGeom prst="roundRect">
            <a:avLst>
              <a:gd name="adj" fmla="val 2013"/>
            </a:avLst>
          </a:prstGeom>
          <a:solidFill>
            <a:schemeClr val="accent2">
              <a:lumMod val="75000"/>
              <a:alpha val="5098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bIns="36000" rtlCol="0" anchor="b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ea typeface="Lato" panose="020F0502020204030203" pitchFamily="34" charset="0"/>
                <a:cs typeface="Consolas" panose="020B0609020204030204" pitchFamily="49" charset="0"/>
              </a:rPr>
              <a:t>KTC combines Predictive and Semantic Uncertainty</a:t>
            </a:r>
            <a:endParaRPr lang="en-US" sz="1100" b="1" dirty="0">
              <a:solidFill>
                <a:schemeClr val="accent2">
                  <a:lumMod val="75000"/>
                </a:schemeClr>
              </a:solidFill>
              <a:latin typeface="Helvetica" pitchFamily="2" charset="0"/>
              <a:ea typeface="Lato" panose="020F0502020204030203" pitchFamily="34" charset="0"/>
              <a:cs typeface="Consolas" panose="020B0609020204030204" pitchFamily="49" charset="0"/>
            </a:endParaRPr>
          </a:p>
        </p:txBody>
      </p:sp>
      <p:sp>
        <p:nvSpPr>
          <p:cNvPr id="2" name="Rectangle à coins arrondis 2">
            <a:extLst>
              <a:ext uri="{FF2B5EF4-FFF2-40B4-BE49-F238E27FC236}">
                <a16:creationId xmlns:a16="http://schemas.microsoft.com/office/drawing/2014/main" id="{BBEC24B5-B071-6A32-C90C-C0098E0EE097}"/>
              </a:ext>
            </a:extLst>
          </p:cNvPr>
          <p:cNvSpPr/>
          <p:nvPr/>
        </p:nvSpPr>
        <p:spPr>
          <a:xfrm>
            <a:off x="983100" y="1606963"/>
            <a:ext cx="4351142" cy="914166"/>
          </a:xfrm>
          <a:prstGeom prst="roundRect">
            <a:avLst>
              <a:gd name="adj" fmla="val 3729"/>
            </a:avLst>
          </a:prstGeom>
          <a:solidFill>
            <a:schemeClr val="accent3">
              <a:alpha val="5098"/>
            </a:schemeClr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bIns="36000" rtlCol="0" anchor="t"/>
          <a:lstStyle/>
          <a:p>
            <a:pPr algn="ctr"/>
            <a:r>
              <a:rPr lang="en-US" sz="1200" b="1" dirty="0">
                <a:solidFill>
                  <a:schemeClr val="accent3"/>
                </a:solidFill>
                <a:latin typeface="Helvetica" pitchFamily="2" charset="0"/>
                <a:ea typeface="Lato" panose="020F0502020204030203" pitchFamily="34" charset="0"/>
                <a:cs typeface="Consolas" panose="020B0609020204030204" pitchFamily="49" charset="0"/>
              </a:rPr>
              <a:t>Predictive Uncertainty</a:t>
            </a:r>
            <a:endParaRPr lang="en-US" sz="1100" b="1" dirty="0">
              <a:solidFill>
                <a:schemeClr val="accent3"/>
              </a:solidFill>
              <a:latin typeface="Helvetica" pitchFamily="2" charset="0"/>
              <a:ea typeface="Lato" panose="020F0502020204030203" pitchFamily="34" charset="0"/>
              <a:cs typeface="Consolas" panose="020B0609020204030204" pitchFamily="49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52E21D0-8323-28D7-4268-658FE68B190A}"/>
              </a:ext>
            </a:extLst>
          </p:cNvPr>
          <p:cNvSpPr/>
          <p:nvPr/>
        </p:nvSpPr>
        <p:spPr>
          <a:xfrm>
            <a:off x="1077112" y="2792844"/>
            <a:ext cx="936000" cy="540000"/>
          </a:xfrm>
          <a:prstGeom prst="roundRect">
            <a:avLst/>
          </a:prstGeom>
          <a:solidFill>
            <a:schemeClr val="tx1">
              <a:alpha val="9804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Candidate tokens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4FE2B5F7-7F1D-E1E1-6A95-50310061CED5}"/>
              </a:ext>
            </a:extLst>
          </p:cNvPr>
          <p:cNvSpPr/>
          <p:nvPr/>
        </p:nvSpPr>
        <p:spPr>
          <a:xfrm>
            <a:off x="2672798" y="2792844"/>
            <a:ext cx="972000" cy="540000"/>
          </a:xfrm>
          <a:prstGeom prst="roundRect">
            <a:avLst/>
          </a:prstGeom>
          <a:solidFill>
            <a:schemeClr val="tx1">
              <a:alpha val="9804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Non-Contradiction Graph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22715F50-B415-54A0-3F86-2A9F81AC056D}"/>
              </a:ext>
            </a:extLst>
          </p:cNvPr>
          <p:cNvSpPr/>
          <p:nvPr/>
        </p:nvSpPr>
        <p:spPr>
          <a:xfrm>
            <a:off x="4221531" y="2792844"/>
            <a:ext cx="890965" cy="540000"/>
          </a:xfrm>
          <a:prstGeom prst="roundRect">
            <a:avLst/>
          </a:prstGeom>
          <a:solidFill>
            <a:schemeClr val="tx1">
              <a:alpha val="9804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Semantic Kernel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C81C5FE3-CF95-B522-0030-9928E75DA527}"/>
              </a:ext>
            </a:extLst>
          </p:cNvPr>
          <p:cNvCxnSpPr>
            <a:cxnSpLocks/>
            <a:stCxn id="16" idx="3"/>
            <a:endCxn id="25" idx="1"/>
          </p:cNvCxnSpPr>
          <p:nvPr/>
        </p:nvCxnSpPr>
        <p:spPr>
          <a:xfrm>
            <a:off x="2013112" y="3062844"/>
            <a:ext cx="6596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B6505BD0-A27E-0040-A119-2E5A87254ADA}"/>
              </a:ext>
            </a:extLst>
          </p:cNvPr>
          <p:cNvSpPr txBox="1"/>
          <p:nvPr/>
        </p:nvSpPr>
        <p:spPr>
          <a:xfrm>
            <a:off x="1850984" y="2542589"/>
            <a:ext cx="983941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[A] Wikipedia neighbor statistics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012C4D69-0A29-46CC-BC41-C1FF67BBAA77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3644798" y="3062844"/>
            <a:ext cx="57673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8C5FE9AA-4838-5CA2-BA3F-FD1D9CB31549}"/>
              </a:ext>
            </a:extLst>
          </p:cNvPr>
          <p:cNvSpPr txBox="1"/>
          <p:nvPr/>
        </p:nvSpPr>
        <p:spPr>
          <a:xfrm>
            <a:off x="3513697" y="2611838"/>
            <a:ext cx="80352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[B] Heat Kernel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546D097-5DA6-7D09-9B79-3C47972EEBB6}"/>
              </a:ext>
            </a:extLst>
          </p:cNvPr>
          <p:cNvSpPr txBox="1"/>
          <p:nvPr/>
        </p:nvSpPr>
        <p:spPr>
          <a:xfrm>
            <a:off x="4042514" y="3297404"/>
            <a:ext cx="12489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VNE(Semantic Kernel)</a:t>
            </a:r>
            <a:br>
              <a:rPr lang="en-US" sz="9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9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</a:t>
            </a:r>
            <a:r>
              <a:rPr lang="en-US" sz="9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Semantic Entropy</a:t>
            </a:r>
            <a:endParaRPr lang="en-US" sz="900" i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454AE697-4ED7-1576-E376-5D5B83F99ACD}"/>
              </a:ext>
            </a:extLst>
          </p:cNvPr>
          <p:cNvSpPr/>
          <p:nvPr/>
        </p:nvSpPr>
        <p:spPr>
          <a:xfrm>
            <a:off x="1077112" y="1938935"/>
            <a:ext cx="936000" cy="540000"/>
          </a:xfrm>
          <a:prstGeom prst="roundRect">
            <a:avLst/>
          </a:prstGeom>
          <a:solidFill>
            <a:schemeClr val="accent3">
              <a:alpha val="14902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sz="100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Probabilities </a:t>
            </a:r>
            <a:r>
              <a:rPr lang="en-US" sz="100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 candidates</a:t>
            </a:r>
            <a:endParaRPr lang="en-US" sz="1000" dirty="0">
              <a:solidFill>
                <a:schemeClr val="accent3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4521616-D341-4FEA-34CC-6D4899A7D09F}"/>
              </a:ext>
            </a:extLst>
          </p:cNvPr>
          <p:cNvSpPr/>
          <p:nvPr/>
        </p:nvSpPr>
        <p:spPr>
          <a:xfrm>
            <a:off x="4221531" y="1938935"/>
            <a:ext cx="890965" cy="540000"/>
          </a:xfrm>
          <a:prstGeom prst="roundRect">
            <a:avLst/>
          </a:prstGeom>
          <a:solidFill>
            <a:schemeClr val="accent3">
              <a:alpha val="14902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sz="100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Predictive Kernel</a:t>
            </a: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5712254C-6719-01CA-E117-B8165FE91F7E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2013112" y="2208935"/>
            <a:ext cx="2208419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1DD01C29-97D3-F203-CE82-45BAA63AEDE3}"/>
              </a:ext>
            </a:extLst>
          </p:cNvPr>
          <p:cNvSpPr txBox="1"/>
          <p:nvPr/>
        </p:nvSpPr>
        <p:spPr>
          <a:xfrm>
            <a:off x="2297292" y="1978103"/>
            <a:ext cx="164051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i="1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Simple Matrix Representation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AA479B5B-F38E-AB30-D418-BABBD143CD96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6731968" y="2542551"/>
            <a:ext cx="810693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DDB2277C-AFC2-59E1-2064-D43B0B96FAB2}"/>
              </a:ext>
            </a:extLst>
          </p:cNvPr>
          <p:cNvSpPr txBox="1"/>
          <p:nvPr/>
        </p:nvSpPr>
        <p:spPr>
          <a:xfrm>
            <a:off x="5334242" y="1951048"/>
            <a:ext cx="1102416" cy="2308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[C] Scaling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357FC13A-D3F4-7130-FC5A-C1E2FE1430B1}"/>
              </a:ext>
            </a:extLst>
          </p:cNvPr>
          <p:cNvSpPr txBox="1"/>
          <p:nvPr/>
        </p:nvSpPr>
        <p:spPr>
          <a:xfrm>
            <a:off x="6601730" y="1989468"/>
            <a:ext cx="1092320" cy="5078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[D] VNE</a:t>
            </a:r>
            <a:b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900" b="1" i="1" dirty="0">
                <a:solidFill>
                  <a:schemeClr val="accent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(Von Neumann Entropy)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6BB8329-FF4E-4CED-4458-04F3C5F35515}"/>
              </a:ext>
            </a:extLst>
          </p:cNvPr>
          <p:cNvSpPr/>
          <p:nvPr/>
        </p:nvSpPr>
        <p:spPr>
          <a:xfrm>
            <a:off x="5969272" y="2272551"/>
            <a:ext cx="762696" cy="540000"/>
          </a:xfrm>
          <a:prstGeom prst="roundRect">
            <a:avLst/>
          </a:prstGeom>
          <a:solidFill>
            <a:schemeClr val="accent2">
              <a:lumMod val="75000"/>
              <a:alpha val="9804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sz="1000" dirty="0">
                <a:solidFill>
                  <a:schemeClr val="accent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Combined Kernel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D424DA22-0B0C-F468-06F2-02F4D43DE49F}"/>
              </a:ext>
            </a:extLst>
          </p:cNvPr>
          <p:cNvSpPr/>
          <p:nvPr/>
        </p:nvSpPr>
        <p:spPr>
          <a:xfrm>
            <a:off x="7542661" y="2320316"/>
            <a:ext cx="594366" cy="444470"/>
          </a:xfrm>
          <a:prstGeom prst="roundRect">
            <a:avLst/>
          </a:prstGeom>
          <a:solidFill>
            <a:schemeClr val="accent2">
              <a:lumMod val="75000"/>
              <a:alpha val="9804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KTC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A96FD4EB-22FB-8E6E-7F29-E61B9F47F735}"/>
              </a:ext>
            </a:extLst>
          </p:cNvPr>
          <p:cNvCxnSpPr>
            <a:cxnSpLocks/>
          </p:cNvCxnSpPr>
          <p:nvPr/>
        </p:nvCxnSpPr>
        <p:spPr>
          <a:xfrm>
            <a:off x="5630039" y="2542586"/>
            <a:ext cx="33923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0B1020C9-5A2F-B747-9756-D80CE55F5EAD}"/>
              </a:ext>
            </a:extLst>
          </p:cNvPr>
          <p:cNvCxnSpPr>
            <a:cxnSpLocks/>
          </p:cNvCxnSpPr>
          <p:nvPr/>
        </p:nvCxnSpPr>
        <p:spPr>
          <a:xfrm>
            <a:off x="5108426" y="2208935"/>
            <a:ext cx="54000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735324EA-44CB-3DBE-5505-3597C43D678E}"/>
              </a:ext>
            </a:extLst>
          </p:cNvPr>
          <p:cNvCxnSpPr>
            <a:cxnSpLocks/>
          </p:cNvCxnSpPr>
          <p:nvPr/>
        </p:nvCxnSpPr>
        <p:spPr>
          <a:xfrm>
            <a:off x="5108426" y="3089899"/>
            <a:ext cx="54000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A4319D7C-9EA7-AB6B-9BB9-568CD4DBAECF}"/>
              </a:ext>
            </a:extLst>
          </p:cNvPr>
          <p:cNvCxnSpPr>
            <a:cxnSpLocks/>
          </p:cNvCxnSpPr>
          <p:nvPr/>
        </p:nvCxnSpPr>
        <p:spPr>
          <a:xfrm>
            <a:off x="5630039" y="2193455"/>
            <a:ext cx="0" cy="9000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427144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4193</TotalTime>
  <Words>149</Words>
  <Application>Microsoft Macintosh PowerPoint</Application>
  <PresentationFormat>Affichage à l'écran (16:9)</PresentationFormat>
  <Paragraphs>21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Helvetica</vt:lpstr>
      <vt:lpstr>Lato</vt:lpstr>
      <vt:lpstr>Raleway</vt:lpstr>
      <vt:lpstr>Arial</vt:lpstr>
      <vt:lpstr>Streamline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INF582 Challenge:  Summary Source Prediction</dc:title>
  <cp:lastModifiedBy>Jérémie Dentan  X2019</cp:lastModifiedBy>
  <cp:revision>114</cp:revision>
  <dcterms:modified xsi:type="dcterms:W3CDTF">2026-08-23T15:31:22Z</dcterms:modified>
</cp:coreProperties>
</file>